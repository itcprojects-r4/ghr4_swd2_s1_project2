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5F8F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5F8FB"/>
                </a:solidFill>
                <a:latin typeface="Arial"/>
              </a:rPr>
              <a:t>Example: Player Skill Radar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Player A</c:v>
                </c:pt>
              </c:strCache>
            </c:strRef>
          </c:tx>
          <c:spPr>
            <a:solidFill>
              <a:srgbClr val="2BD98F"/>
            </a:solidFill>
            <a:ln w="25400" cap="flat">
              <a:solidFill>
                <a:srgbClr val="2BD98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BD98F"/>
              </a:solidFill>
              <a:ln w="9525" cap="flat">
                <a:solidFill>
                  <a:srgbClr val="2BD9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Pace</c:v>
                  </c:pt>
                  <c:pt idx="1">
                    <c:v>Shooting</c:v>
                  </c:pt>
                  <c:pt idx="2">
                    <c:v>Passing</c:v>
                  </c:pt>
                  <c:pt idx="3">
                    <c:v>Dribbling</c:v>
                  </c:pt>
                  <c:pt idx="4">
                    <c:v>Defending</c:v>
                  </c:pt>
                  <c:pt idx="5">
                    <c:v>Physical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85</c:v>
                </c:pt>
                <c:pt idx="2">
                  <c:v>82</c:v>
                </c:pt>
                <c:pt idx="3">
                  <c:v>75</c:v>
                </c:pt>
                <c:pt idx="4">
                  <c:v>68</c:v>
                </c:pt>
                <c:pt idx="5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Sample Player B</c:v>
                </c:pt>
              </c:strCache>
            </c:strRef>
          </c:tx>
          <c:spPr>
            <a:solidFill>
              <a:srgbClr val="F2B134"/>
            </a:solidFill>
            <a:ln w="25400" cap="flat">
              <a:solidFill>
                <a:srgbClr val="F2B134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2B134"/>
              </a:solidFill>
              <a:ln w="9525" cap="flat">
                <a:solidFill>
                  <a:srgbClr val="F2B1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Pace</c:v>
                  </c:pt>
                  <c:pt idx="1">
                    <c:v>Shooting</c:v>
                  </c:pt>
                  <c:pt idx="2">
                    <c:v>Passing</c:v>
                  </c:pt>
                  <c:pt idx="3">
                    <c:v>Dribbling</c:v>
                  </c:pt>
                  <c:pt idx="4">
                    <c:v>Defending</c:v>
                  </c:pt>
                  <c:pt idx="5">
                    <c:v>Physical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90</c:v>
                </c:pt>
                <c:pt idx="2">
                  <c:v>75</c:v>
                </c:pt>
                <c:pt idx="3">
                  <c:v>88</c:v>
                </c:pt>
                <c:pt idx="4">
                  <c:v>60</c:v>
                </c:pt>
                <c:pt idx="5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6B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33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5F8F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23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warmly and introduce the project name and DEPI program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 — just orient the committee on what's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 Futbolio closes: too many separate apps for football info. Set up the rest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the headline numbers slowly: 10 pages, 25+ leagues, AI chatbot. These are your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architecture left to right: frontend talks to one API service, which talks to two external services and the local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whole table — call out React 19, Groq LLaMA 3.3, and Recharts as the three most interesting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or two pages to describe in more depth if asked; the rest can stay as a quick visual tour.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approach — these are the data-heavy pages, good to mention the radar/area charts here as a teaser for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and Favorites show personalization; the chatbot is global on every page — emphasize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possible, mention this radar chart is illustrative; the real one renders live player data with Recharts.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two chat examples aloud — they show the bot's football-only guardrail clearly and memorably.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top to bottom. This slide is usually the strongest technical impression for the committee.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two real challenges the team hit — speak plainly about what broke and how it was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folder tree briefly, then pivot to the quality bullets — committees care more about practices than file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it shows maturity and forward thinking, not a commitment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each member say one sentence about their part of the project here if doing a live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Skim this once before walking in — these are the likely follow-up questions from a technical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warmly and offer the live demo immediately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0E3A2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840480"/>
            <a:ext cx="6400800" cy="6400800"/>
          </a:xfrm>
          <a:prstGeom prst="ellipse">
            <a:avLst/>
          </a:prstGeom>
          <a:solidFill>
            <a:srgbClr val="3A2E1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0952" y="914400"/>
            <a:ext cx="1005840" cy="1005840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2529" y="118597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FINAL PROJECT · 2025/2026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25146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FUTBOLIO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0" y="3547872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Football Experience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645920" y="4096512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for live scores, deep statistics, and AI-powered football insight — in Arabic &amp; English.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Lokma   ·   Essam Hany   ·   Yousef Amer   ·   Basmala Shalaby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07040" y="457200"/>
            <a:ext cx="640080" cy="640080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862" y="630022"/>
            <a:ext cx="294437" cy="2944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8992" y="167335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Vision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8992" y="245059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78992" y="322783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78992" y="40050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78992" y="47823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Walkthrough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45352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22" name="Text 19"/>
          <p:cNvSpPr/>
          <p:nvPr/>
        </p:nvSpPr>
        <p:spPr>
          <a:xfrm>
            <a:off x="624535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775704" y="167335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45352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25" name="Text 22"/>
          <p:cNvSpPr/>
          <p:nvPr/>
        </p:nvSpPr>
        <p:spPr>
          <a:xfrm>
            <a:off x="624535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75704" y="245059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 AI Chatbot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45352" y="3246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28" name="Text 25"/>
          <p:cNvSpPr/>
          <p:nvPr/>
        </p:nvSpPr>
        <p:spPr>
          <a:xfrm>
            <a:off x="624535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75704" y="322783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 &amp; Solutions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245352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31" name="Text 28"/>
          <p:cNvSpPr/>
          <p:nvPr/>
        </p:nvSpPr>
        <p:spPr>
          <a:xfrm>
            <a:off x="6245352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75704" y="40050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Code Quality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45352" y="4800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D98F"/>
          </a:solidFill>
          <a:ln/>
        </p:spPr>
      </p:sp>
      <p:sp>
        <p:nvSpPr>
          <p:cNvPr id="34" name="Text 31"/>
          <p:cNvSpPr/>
          <p:nvPr/>
        </p:nvSpPr>
        <p:spPr>
          <a:xfrm>
            <a:off x="6245352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75704" y="47823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Team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Built Futbolio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90652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Futbolio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Hopping between different apps for scores, stats, and news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Standings and top-scorer tables scattered across sources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way to compare two teams side-by-side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to no Arabic-language football assistance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783080"/>
            <a:ext cx="457200" cy="457200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190652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Futbolio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11112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platform: live scores, standings, stats &amp; news together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leagues with full tables and top scorer/assist boards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head-to-head Compare page for any two teams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 AI answers football questions in Arabic &amp; English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Futbolio?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responsive web application built for football enthusiasts worldwide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match scores, league standings, and detailed team &amp; player statistics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visualization — charts and radar diagrams for deep analysis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 AI: a built-in chatbot that answers football questions instantly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25+ leagues, including EPL, La Liga, Serie A, Bundesliga, UCL &amp; the Egyptian Premier League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0" y="16459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50608" y="1737360"/>
            <a:ext cx="426110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D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Pages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50608" y="2324862"/>
            <a:ext cx="4261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designed and functional, each with a unique purpose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0" y="3017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50608" y="3108960"/>
            <a:ext cx="426110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 Leagues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50608" y="3696462"/>
            <a:ext cx="4261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domestic and international competitions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43891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50608" y="4480560"/>
            <a:ext cx="426110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6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50608" y="5068062"/>
            <a:ext cx="4261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Groq-powered LLaMA 3.3 model for real-time Q&amp;A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through a centralized API layer with a 3-step fallback strategy: Fresh Cache → Live API → Stale Cache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0" y="1783080"/>
            <a:ext cx="3044952" cy="868680"/>
          </a:xfrm>
          <a:prstGeom prst="roundRect">
            <a:avLst>
              <a:gd name="adj" fmla="val 8421"/>
            </a:avLst>
          </a:prstGeom>
          <a:solidFill>
            <a:srgbClr val="0E3A2C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18304" y="2007108"/>
            <a:ext cx="420624" cy="420624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1872" y="2120676"/>
            <a:ext cx="193487" cy="193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66944" y="178308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Application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3154680"/>
            <a:ext cx="3044952" cy="868680"/>
          </a:xfrm>
          <a:prstGeom prst="roundRect">
            <a:avLst>
              <a:gd name="adj" fmla="val 8421"/>
            </a:avLst>
          </a:prstGeom>
          <a:solidFill>
            <a:srgbClr val="0E3A2C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18304" y="3378708"/>
            <a:ext cx="420624" cy="420624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872" y="3492276"/>
            <a:ext cx="193487" cy="1934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66944" y="315468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2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Cache Layer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47091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3A2E12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77824" y="4933188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92" y="5046756"/>
            <a:ext cx="193487" cy="1934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26464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API-Sports</a:t>
            </a:r>
            <a:endParaRPr lang="en-US" sz="12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Football Data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498848" y="47091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45152" y="4933188"/>
            <a:ext cx="420624" cy="420624"/>
          </a:xfrm>
          <a:prstGeom prst="ellipse">
            <a:avLst/>
          </a:prstGeom>
          <a:solidFill>
            <a:srgbClr val="5A718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720" y="5046756"/>
            <a:ext cx="193487" cy="1934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93792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2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Favorites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275320" y="47091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201C3D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421624" y="4933188"/>
            <a:ext cx="420624" cy="420624"/>
          </a:xfrm>
          <a:prstGeom prst="ellipse">
            <a:avLst/>
          </a:prstGeom>
          <a:solidFill>
            <a:srgbClr val="7C6FF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192" y="5046756"/>
            <a:ext cx="193487" cy="19348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70264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API</a:t>
            </a:r>
            <a:endParaRPr lang="en-US" sz="12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Engine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094476" y="2651760"/>
            <a:ext cx="0" cy="502920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094476" y="4023360"/>
            <a:ext cx="0" cy="274320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331720" y="4297680"/>
            <a:ext cx="7543800" cy="0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2331720" y="4297680"/>
            <a:ext cx="0" cy="411480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094476" y="4297680"/>
            <a:ext cx="0" cy="411480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875520" y="4297680"/>
            <a:ext cx="0" cy="411480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61772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D9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D98F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Vite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v7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Client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 (custom interceptors)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Football Data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API-Sports (api-football.com)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Chatbot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Cloud API — LLaMA 3.3 70B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 (Radar, Area, Bar charts)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CSS + Bootstrap Grid + CSS Variables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Context API (Favorites)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 with TTL-based expiry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3F"/>
                    </a:solidFill>
                  </a:tcPr>
                </a:tc>
              </a:tr>
              <a:tr h="4197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(HMR, ESBuild, optimized bundles)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23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· 1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&amp; Follow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937156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live date &amp; top matches carousel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leagues grid with clickable team logos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badges — LIVE / FT / 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45352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801368"/>
            <a:ext cx="502920" cy="502920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740" y="1937156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14032" y="1801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Page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9672" y="2468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match schedule with date-picker navigation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fixtures by league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indicators, click through to details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995928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4131716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95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Leagues List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663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leagues &amp; competitions in a card grid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as Top 7 + Explore More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navigation into any league page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45352" y="3794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3995928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740" y="4131716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14032" y="3995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Page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19672" y="4663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search across teams and players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results powered by the API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to demo results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· 2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Statistics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937156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Details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match stats comparison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timeline — goals &amp; cards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history and line-ups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45352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801368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740" y="1937156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14032" y="1801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Page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9672" y="2468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Standings table, top scorers &amp; assists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&amp; upcoming fixtures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navigation into any team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995928"/>
            <a:ext cx="502920" cy="502920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4131716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95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Profile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663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info, venue &amp; Win/Draw/Loss record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list linked to player profiles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Goals-by-time-interval chart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45352" y="3794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3995928"/>
            <a:ext cx="502920" cy="502920"/>
          </a:xfrm>
          <a:prstGeom prst="ellipse">
            <a:avLst/>
          </a:prstGeom>
          <a:solidFill>
            <a:srgbClr val="7C6F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740" y="4131716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14032" y="3995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19672" y="46634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biography &amp; season statistics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skill overview</a:t>
            </a:r>
            <a:endParaRPr lang="en-US" sz="11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performance area chart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· 3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 &amp; Engage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1296" cy="4023360"/>
          </a:xfrm>
          <a:prstGeom prst="roundRect">
            <a:avLst>
              <a:gd name="adj" fmla="val 208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48640" cy="548640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15981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3054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any two teams</a:t>
            </a:r>
            <a:endParaRPr lang="en-US" sz="11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stats bars &amp; percentage breakdown</a:t>
            </a:r>
            <a:endParaRPr lang="en-US" sz="11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recent matches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4256" y="1737360"/>
            <a:ext cx="3511296" cy="4023360"/>
          </a:xfrm>
          <a:prstGeom prst="roundRect">
            <a:avLst>
              <a:gd name="adj" fmla="val 208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011680"/>
            <a:ext cx="548640" cy="5486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215981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6974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Page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62856" y="3337560"/>
            <a:ext cx="3054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favorite teams &amp; players</a:t>
            </a:r>
            <a:endParaRPr lang="en-US" sz="11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via LocalStorage</a:t>
            </a:r>
            <a:endParaRPr lang="en-US" sz="11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toggle, tabs by category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19872" y="1737360"/>
            <a:ext cx="3511296" cy="4023360"/>
          </a:xfrm>
          <a:prstGeom prst="roundRect">
            <a:avLst>
              <a:gd name="adj" fmla="val 208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011680"/>
            <a:ext cx="548640" cy="548640"/>
          </a:xfrm>
          <a:prstGeom prst="ellipse">
            <a:avLst/>
          </a:prstGeom>
          <a:solidFill>
            <a:srgbClr val="7C6FF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15981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8472" y="26974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(Global)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48472" y="3337560"/>
            <a:ext cx="3054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assistant on every page</a:t>
            </a:r>
            <a:endParaRPr lang="en-US" sz="11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Football-only, Arabic + English</a:t>
            </a:r>
            <a:endParaRPr lang="en-US" sz="11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LLaMA 3.3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550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chart types used across the app: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55080" y="19659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— goals by 15-minute interval, shows scoring patterns</a:t>
            </a:r>
            <a:endParaRPr lang="en-US" sz="12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— player skill comparison (Pace, Shooting, Passing...)</a:t>
            </a:r>
            <a:endParaRPr lang="en-US" sz="12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Win/Draw/Loss distribution, Home vs Away performance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5508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55080" y="406908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containers that adapt to any screen size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palette matching the dark theme with a green accent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&amp; hover effects for interactive exploration</a:t>
            </a:r>
            <a:endParaRPr lang="en-US" sz="11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fills on area charts for a modern aesthetic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 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Chatbot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question in the chat window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is sent to the Groq Cloud API via fetch()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processes it using a system prompt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streamed back in under 1 second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Rules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football-related questions only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Politely declines unrelated topics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in Arabic and English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developer team's names — no emojis, professional tone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83080"/>
            <a:ext cx="457200" cy="457200"/>
          </a:xfrm>
          <a:prstGeom prst="ellipse">
            <a:avLst/>
          </a:prstGeom>
          <a:solidFill>
            <a:srgbClr val="7C6FF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684" y="1906524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8660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 AI — Football Expert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869680" y="24688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5A7186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top scorer in WC 2022?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73952" y="3108960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0E3A2C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108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Kylian Mbappé is the top scorer of the FIFA World Cup 2022, with 8 goals for France.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189720" y="406908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5A7186"/>
          </a:solidFill>
          <a:ln/>
        </p:spPr>
      </p:sp>
      <p:sp>
        <p:nvSpPr>
          <p:cNvPr id="17" name="Text 14"/>
          <p:cNvSpPr/>
          <p:nvPr/>
        </p:nvSpPr>
        <p:spPr>
          <a:xfrm>
            <a:off x="9281160" y="4069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a cake?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73952" y="4709160"/>
            <a:ext cx="3154680" cy="685800"/>
          </a:xfrm>
          <a:prstGeom prst="roundRect">
            <a:avLst>
              <a:gd name="adj" fmla="val 13333"/>
            </a:avLst>
          </a:prstGeom>
          <a:solidFill>
            <a:srgbClr val="0E3A2C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4709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I can only help with football-related questions!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&amp; Fallback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survive a 100-requests/day API limit without ever showing a blank screen.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27448" y="178308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3A2E12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73752" y="1908170"/>
            <a:ext cx="408188" cy="40818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963" y="2018381"/>
            <a:ext cx="187767" cy="1877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09956" y="1783080"/>
            <a:ext cx="1932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27448" y="269748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73752" y="2822570"/>
            <a:ext cx="408188" cy="408188"/>
          </a:xfrm>
          <a:prstGeom prst="ellipse">
            <a:avLst/>
          </a:prstGeom>
          <a:solidFill>
            <a:srgbClr val="5A718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963" y="2932781"/>
            <a:ext cx="187767" cy="1877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9956" y="2697480"/>
            <a:ext cx="1932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Fresh?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27448" y="361188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3A2E12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73752" y="3736970"/>
            <a:ext cx="408188" cy="40818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963" y="3847181"/>
            <a:ext cx="187767" cy="1877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09956" y="3611880"/>
            <a:ext cx="1932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API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27448" y="452628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3A2E12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73752" y="4651370"/>
            <a:ext cx="408188" cy="408188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963" y="4761581"/>
            <a:ext cx="187767" cy="18776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09956" y="4526280"/>
            <a:ext cx="1932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Stale Cache Data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727448" y="544068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3A1A1A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73752" y="5565770"/>
            <a:ext cx="408188" cy="40818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963" y="5675981"/>
            <a:ext cx="187767" cy="18776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09956" y="5440680"/>
            <a:ext cx="1932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Static Demo Data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503920" y="269748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0E3A2C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650224" y="2822570"/>
            <a:ext cx="408188" cy="408188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0435" y="2932781"/>
            <a:ext cx="187767" cy="18776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6428" y="2697480"/>
            <a:ext cx="21155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Cached Data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8503920" y="361188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0E3A2C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8650224" y="3736970"/>
            <a:ext cx="408188" cy="408188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0435" y="3847181"/>
            <a:ext cx="187767" cy="18776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186428" y="3611880"/>
            <a:ext cx="21155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→ Save to Cache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099048" y="2441448"/>
            <a:ext cx="0" cy="256032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7470648" y="3026664"/>
            <a:ext cx="1033272" cy="0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7607808" y="2651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6099048" y="3355848"/>
            <a:ext cx="0" cy="256032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3767328" y="33741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470648" y="3941064"/>
            <a:ext cx="1033272" cy="0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607808" y="35661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099048" y="4270248"/>
            <a:ext cx="0" cy="256032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3767328" y="42885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099048" y="5184648"/>
            <a:ext cx="0" cy="256032"/>
          </a:xfrm>
          <a:prstGeom prst="line">
            <a:avLst/>
          </a:prstGeom>
          <a:noFill/>
          <a:ln w="19050">
            <a:solidFill>
              <a:srgbClr val="5A7186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3584448" y="5202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STALE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55648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933" y="185934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801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 &amp; Account Suspension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API-Sports free tier allows only 100 requests/day — our account was suspended multiple times mid-development, leaving the app with no live data.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45352" y="1554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1755648"/>
            <a:ext cx="384048" cy="384048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645" y="1859341"/>
            <a:ext cx="176662" cy="1766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76872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976872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Fallback System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73952" y="2423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Cache (15-min TTL) → Live API Call → Stale Cache Fallback → Static Demo Data as a last resort, so the app never shows a blank screen.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087368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33" y="4191061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28016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 Teammate's Standalone Codebase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77240" y="47548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Player profile pages were built independently with their own API layer and CSS, causing style conflicts and duplicate logic.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45352" y="3886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73952" y="4087368"/>
            <a:ext cx="384048" cy="384048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645" y="4191061"/>
            <a:ext cx="176662" cy="1766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76872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976872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&amp; Unified Architecture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473952" y="47548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Rewired calls through the central ApiService, isolated styles in a dedicated profile.css, and unified routing through App.jsx.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Code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football_stats/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components/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Chatbot.jsx        (AI chatbot)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Navbar.jsx         (Navigation bar)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Footer.jsx         (Footer)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Loader.jsx         (Loading spinner)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cards/             (Reusable cards)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pages/  (10 pages)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HomePage.jsx, MatchesPage.jsx,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MatchDetailsPage, LeaguesListPage,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LeaguePage.jsx, TeamPage.jsx,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PlayerPage.jsx, ComparePage.jsx,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SearchPage.jsx, FavoritesPage.jsx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services/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apiService.js      (Axios + Cache)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cacheService.js    (LocalStorage)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footballApiService (API endpoints)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context/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5F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FavoritesContext   (State mgmt)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45352" y="15544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645920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D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Pages · 4 Components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46520" y="2308860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Services · 1 Context · 2 CSS Files · 1 Constants 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3154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3246120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46520" y="3909060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theming · dark navy + green accent · responsive Bootstrap grid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47548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4846320"/>
            <a:ext cx="499262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6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Quality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46520" y="5484114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components · clear separation of concerns · no prop drilling (Context API)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873148"/>
            <a:ext cx="231343" cy="231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 via Firebase for a personalized experience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816352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952140"/>
            <a:ext cx="231343" cy="231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70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for live match goals and results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895344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4031132"/>
            <a:ext cx="231343" cy="23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8496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4169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support and installability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4974336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5110124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9286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52486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Goals (xG), heat maps, pass networks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45352" y="173736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140" y="1873148"/>
            <a:ext cx="231343" cy="23134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31152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 Toggle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931152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switcher based on user preference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45352" y="2816352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140" y="2952140"/>
            <a:ext cx="231343" cy="23134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31152" y="2770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Arabic Localization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931152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multi-language support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245352" y="3895344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140" y="4031132"/>
            <a:ext cx="231343" cy="23134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31152" y="38496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6931152" y="4169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on Vercel / Netlify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E3A2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3A2E1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502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FRONTEND TRACK (REACTJS)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82296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32308" y="2331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18108" y="2651760"/>
            <a:ext cx="1188720" cy="118872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2BD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8108" y="2651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2308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Lokma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2308" y="4370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1228" y="2331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07028" y="2651760"/>
            <a:ext cx="1188720" cy="118872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2BD9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07028" y="2651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1228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Essam Hany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21228" y="4370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0148" y="2331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95948" y="2651760"/>
            <a:ext cx="1188720" cy="118872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2BD9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5948" y="2651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0148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Amer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10148" y="4370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99068" y="2331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84868" y="2651760"/>
            <a:ext cx="1188720" cy="118872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2BD9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84868" y="2651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999068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Basmala Shalaby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999068" y="4370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Committee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642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How do you handle the 100 requests/day API limit?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21762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 4-layer fallback: fresh cache → live call → stale cache → static demo data, so the app never shows a blank screen.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6642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Why store cache in LocalStorage instead of a database?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46520" y="21762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The project is fully front-end; LocalStorage gives free, per-browser persistence with zero backend — a deliberate scope choice.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264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Why Groq for the AI chatbot?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37764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Groq's infrastructure is built for very low-latency inference, keeping replies near-instant for a smooth chat experience.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5352" y="3154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264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How did the team divide the work?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37764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Each member owned specific pages/modules independently, then we unified everything through one central ApiService and App.jsx routing.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48646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Is the data really live?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" y="53766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Yes — pulled from API-Sports live endpoints, refreshed on a 15-minute TTL, with fallbacks to keep the app responsive.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47548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4283F"/>
          </a:solidFill>
          <a:ln w="9525">
            <a:solidFill>
              <a:srgbClr val="2238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48646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was the biggest technical challenge?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53766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5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API rate limiting that suspended our account mid-development — solved with the caching/fallback system shown earlier.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FUTBOLIO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08792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457200"/>
            <a:ext cx="6400800" cy="6400800"/>
          </a:xfrm>
          <a:prstGeom prst="ellipse">
            <a:avLst/>
          </a:prstGeom>
          <a:solidFill>
            <a:srgbClr val="0E3A2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30952" y="914400"/>
            <a:ext cx="1005840" cy="1005840"/>
          </a:xfrm>
          <a:prstGeom prst="ellipse">
            <a:avLst/>
          </a:prstGeom>
          <a:solidFill>
            <a:srgbClr val="2BD9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2529" y="1185977"/>
            <a:ext cx="462686" cy="4626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488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384048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show you Futbolio in action!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57607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D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Lokma   ·   Essam Hany   ·   Yousef Amer   ·   Basmala Shalaby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DEPI 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Futbolio - Complete Project Presentation</dc:title>
  <dc:subject>PptxGenJS Presentation</dc:subject>
  <dc:creator>Futbolio Team</dc:creator>
  <cp:lastModifiedBy>Futbolio Team</cp:lastModifiedBy>
  <cp:revision>1</cp:revision>
  <dcterms:created xsi:type="dcterms:W3CDTF">2026-06-26T10:52:32Z</dcterms:created>
  <dcterms:modified xsi:type="dcterms:W3CDTF">2026-06-26T10:52:32Z</dcterms:modified>
</cp:coreProperties>
</file>